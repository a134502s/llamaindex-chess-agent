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b007b5da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b007b5da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b007b5d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b007b5d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b007b5da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b007b5da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b007b5da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b007b5da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b007b5da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b007b5da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b007b5da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b007b5da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b007b5da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b007b5da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b007b5da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b007b5da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b007b5da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b007b5da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b007b5da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b007b5da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b007b5da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b007b5da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b007b5daf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b007b5daf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b007b5daf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b007b5daf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圖一:他搞錯指令了，原因可能是他翻譯成棋子在哪裡"Where is the piece?"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圖一:他搞錯指令了，原因可能是他翻譯成棋子在哪裡"Where is the piece?"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b007b5daf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b007b5daf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b007b5daf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b007b5da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基於llamaindex的chess agent</a:t>
            </a:r>
            <a:endParaRPr sz="4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理解你指令的下棋助理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3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llamaindex</a:t>
            </a:r>
            <a:r>
              <a:rPr lang="zh-TW"/>
              <a:t>介紹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highlight>
                  <a:schemeClr val="lt1"/>
                </a:highlight>
              </a:rPr>
              <a:t>其實</a:t>
            </a:r>
            <a:r>
              <a:rPr lang="zh-TW" sz="1900">
                <a:highlight>
                  <a:schemeClr val="lt1"/>
                </a:highlight>
              </a:rPr>
              <a:t>llamaindex本質算是一個快速構建RAG的工具:</a:t>
            </a:r>
            <a:br>
              <a:rPr lang="zh-TW" sz="1900">
                <a:highlight>
                  <a:schemeClr val="lt1"/>
                </a:highlight>
              </a:rPr>
            </a:br>
            <a:br>
              <a:rPr lang="zh-TW" sz="1900">
                <a:highlight>
                  <a:schemeClr val="lt1"/>
                </a:highlight>
              </a:rPr>
            </a:br>
            <a:r>
              <a:rPr lang="zh-TW" sz="1900">
                <a:highlight>
                  <a:schemeClr val="lt1"/>
                </a:highlight>
              </a:rPr>
              <a:t>RAG:</a:t>
            </a:r>
            <a:r>
              <a:rPr lang="zh-TW" sz="1900"/>
              <a:t>RAG 是 Retrieval-Augmented Generation（檢索增強生成)的縮寫，是一種把 「查資料」+「語言模型生成」 結合在一起的 AI 架構。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900"/>
              <a:t>單純的LLM（像 ChatGPT）有幾個問題:</a:t>
            </a:r>
            <a:br>
              <a:rPr lang="zh-TW" sz="1900"/>
            </a:br>
            <a:r>
              <a:rPr lang="zh-TW" sz="1900"/>
              <a:t>不知道你公司的內部文件</a:t>
            </a:r>
            <a:br>
              <a:rPr lang="zh-TW" sz="1900"/>
            </a:br>
            <a:r>
              <a:rPr lang="zh-TW" sz="1900"/>
              <a:t>知識可能過時</a:t>
            </a:r>
            <a:br>
              <a:rPr lang="zh-TW" sz="1900"/>
            </a:br>
            <a:r>
              <a:rPr lang="zh-TW" sz="1900"/>
              <a:t>容易「一本正經地亂講（幻覺）」</a:t>
            </a:r>
            <a:br>
              <a:rPr lang="zh-TW" sz="1900"/>
            </a:br>
            <a:br>
              <a:rPr lang="zh-TW" sz="1900"/>
            </a:br>
            <a:r>
              <a:rPr lang="zh-TW" sz="1900"/>
              <a:t>RAG 用「外部資料檢索」來補強這些缺點。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所需套件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1.llamaindex:為構建agent一個方便的工具包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2.chess:為python自帶的下棋程式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3.stockfish:相當於chess agent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4.Pyqt5:繪製棋盤，棋子的工具包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5.LLM:llama-3.2-3b-instruct-q4_k_m.gguf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llamaindex</a:t>
            </a:r>
            <a:r>
              <a:rPr lang="zh-TW"/>
              <a:t>架構</a:t>
            </a:r>
            <a:endParaRPr/>
          </a:p>
        </p:txBody>
      </p:sp>
      <p:pic>
        <p:nvPicPr>
          <p:cNvPr id="73" name="Google Shape;73;p16" title="llamaindex架構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400" y="1017725"/>
            <a:ext cx="4596349" cy="25630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5119800" y="1296950"/>
            <a:ext cx="3712500" cy="25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1.loading:需要數據加載器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2.Model:openai或llama的gguf模型</a:t>
            </a:r>
            <a:br>
              <a:rPr lang="zh-TW" sz="1800">
                <a:solidFill>
                  <a:schemeClr val="dk2"/>
                </a:solidFill>
              </a:rPr>
            </a:br>
            <a:r>
              <a:rPr lang="zh-TW" sz="1800">
                <a:solidFill>
                  <a:schemeClr val="dk2"/>
                </a:solidFill>
              </a:rPr>
              <a:t>3.indexing:構建索引引擎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4.Storing:存儲在資料庫或本地硬碟</a:t>
            </a:r>
            <a:br>
              <a:rPr lang="zh-TW" sz="1800">
                <a:solidFill>
                  <a:schemeClr val="dk2"/>
                </a:solidFill>
              </a:rPr>
            </a:br>
            <a:r>
              <a:rPr lang="zh-TW" sz="1800">
                <a:solidFill>
                  <a:schemeClr val="dk2"/>
                </a:solidFill>
              </a:rPr>
              <a:t>5.Evaluation:使用者向</a:t>
            </a:r>
            <a:r>
              <a:rPr lang="zh-TW" sz="1800">
                <a:solidFill>
                  <a:schemeClr val="dk2"/>
                </a:solidFill>
              </a:rPr>
              <a:t>索引引擎發問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6.Querying:有很chat,Querying等模式</a:t>
            </a:r>
            <a:br>
              <a:rPr lang="zh-TW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25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構建agent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91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如何構建agent: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1.SimpleDirectorReader:</a:t>
            </a:r>
            <a:r>
              <a:rPr lang="zh-TW"/>
              <a:t>數據加載器</a:t>
            </a:r>
            <a:br>
              <a:rPr lang="zh-TW"/>
            </a:br>
            <a:r>
              <a:rPr lang="zh-TW"/>
              <a:t>2.VectorStoreIndex:索引構建</a:t>
            </a:r>
            <a:br>
              <a:rPr lang="zh-TW"/>
            </a:br>
            <a:r>
              <a:rPr lang="zh-TW"/>
              <a:t>3.StorageContext:儲存索引數據</a:t>
            </a:r>
            <a:br>
              <a:rPr lang="zh-TW"/>
            </a:br>
            <a:r>
              <a:rPr lang="zh-TW"/>
              <a:t>4.Querying:構建問答系統</a:t>
            </a:r>
            <a:br>
              <a:rPr lang="zh-TW"/>
            </a:br>
            <a:r>
              <a:rPr lang="zh-TW"/>
              <a:t>5.Evaluating:使用者發問問題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zh-TW"/>
            </a:br>
            <a:endParaRPr/>
          </a:p>
        </p:txBody>
      </p:sp>
      <p:pic>
        <p:nvPicPr>
          <p:cNvPr id="81" name="Google Shape;81;p17" title="llamaindex流程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425" y="3432126"/>
            <a:ext cx="7599973" cy="10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構建工具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1.設置難度:就像一般的下棋軟件可以設置難度一樣，stockfish也可以設置難度。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2.移動棋子:當agent接收到你的命令之後會移動你這方所指定的棋子，並之後再移動由stockfish己方的棋子，例如:我是白方，</a:t>
            </a:r>
            <a:r>
              <a:rPr lang="zh-TW"/>
              <a:t>stockfish是黑方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3.詢問最優棋:可以透過agent來詢問stockfish來尋求最優解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4.悔棋:各退一步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5.儲存歷史紀錄:可以把你的下棋過程記錄成txt檔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構建UI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825" y="194300"/>
            <a:ext cx="2570175" cy="4754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9"/>
          <p:cNvCxnSpPr/>
          <p:nvPr/>
        </p:nvCxnSpPr>
        <p:spPr>
          <a:xfrm flipH="1" rot="10800000">
            <a:off x="1844125" y="3785000"/>
            <a:ext cx="2494500" cy="97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9"/>
          <p:cNvCxnSpPr/>
          <p:nvPr/>
        </p:nvCxnSpPr>
        <p:spPr>
          <a:xfrm flipH="1" rot="10800000">
            <a:off x="1889250" y="2631300"/>
            <a:ext cx="2256000" cy="70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9"/>
          <p:cNvCxnSpPr/>
          <p:nvPr/>
        </p:nvCxnSpPr>
        <p:spPr>
          <a:xfrm>
            <a:off x="1992375" y="1367875"/>
            <a:ext cx="2636100" cy="11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9"/>
          <p:cNvCxnSpPr/>
          <p:nvPr/>
        </p:nvCxnSpPr>
        <p:spPr>
          <a:xfrm flipH="1" rot="10800000">
            <a:off x="1921475" y="3185600"/>
            <a:ext cx="2378400" cy="137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19"/>
          <p:cNvSpPr txBox="1"/>
          <p:nvPr/>
        </p:nvSpPr>
        <p:spPr>
          <a:xfrm>
            <a:off x="4751050" y="1329200"/>
            <a:ext cx="15018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1.構建棋盤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4299875" y="2363750"/>
            <a:ext cx="18693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2</a:t>
            </a:r>
            <a:r>
              <a:rPr lang="zh-TW" sz="1800">
                <a:solidFill>
                  <a:schemeClr val="dk2"/>
                </a:solidFill>
              </a:rPr>
              <a:t>.構建</a:t>
            </a:r>
            <a:r>
              <a:rPr lang="zh-TW" sz="1800">
                <a:solidFill>
                  <a:schemeClr val="dk2"/>
                </a:solidFill>
              </a:rPr>
              <a:t>聊天紀錄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4338625" y="3031800"/>
            <a:ext cx="18306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3.</a:t>
            </a:r>
            <a:r>
              <a:rPr lang="zh-TW" sz="1800">
                <a:solidFill>
                  <a:schemeClr val="dk2"/>
                </a:solidFill>
              </a:rPr>
              <a:t>.構建</a:t>
            </a:r>
            <a:r>
              <a:rPr lang="zh-TW" sz="1800">
                <a:solidFill>
                  <a:schemeClr val="dk2"/>
                </a:solidFill>
              </a:rPr>
              <a:t>對話框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4338625" y="3785025"/>
            <a:ext cx="18306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3..構建</a:t>
            </a:r>
            <a:r>
              <a:rPr lang="zh-TW" sz="1800">
                <a:solidFill>
                  <a:schemeClr val="dk2"/>
                </a:solidFill>
              </a:rPr>
              <a:t>輸出按鈕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7413025" y="2747200"/>
            <a:ext cx="10119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2"/>
                </a:solidFill>
              </a:rPr>
              <a:t>Pyqt5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103" name="Google Shape;103;p19"/>
          <p:cNvCxnSpPr>
            <a:stCxn id="98" idx="3"/>
            <a:endCxn id="102" idx="1"/>
          </p:cNvCxnSpPr>
          <p:nvPr/>
        </p:nvCxnSpPr>
        <p:spPr>
          <a:xfrm>
            <a:off x="6252850" y="1599950"/>
            <a:ext cx="1160100" cy="146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9"/>
          <p:cNvCxnSpPr>
            <a:stCxn id="99" idx="3"/>
            <a:endCxn id="102" idx="1"/>
          </p:cNvCxnSpPr>
          <p:nvPr/>
        </p:nvCxnSpPr>
        <p:spPr>
          <a:xfrm>
            <a:off x="6169175" y="2634500"/>
            <a:ext cx="1243800" cy="4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9"/>
          <p:cNvCxnSpPr>
            <a:stCxn id="100" idx="3"/>
            <a:endCxn id="102" idx="1"/>
          </p:cNvCxnSpPr>
          <p:nvPr/>
        </p:nvCxnSpPr>
        <p:spPr>
          <a:xfrm flipH="1" rot="10800000">
            <a:off x="6169225" y="3066150"/>
            <a:ext cx="1243800" cy="2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9"/>
          <p:cNvCxnSpPr>
            <a:stCxn id="101" idx="3"/>
            <a:endCxn id="102" idx="1"/>
          </p:cNvCxnSpPr>
          <p:nvPr/>
        </p:nvCxnSpPr>
        <p:spPr>
          <a:xfrm flipH="1" rot="10800000">
            <a:off x="6169225" y="3066375"/>
            <a:ext cx="1243800" cy="98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執行結果</a:t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650" y="1463212"/>
            <a:ext cx="2334725" cy="299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7250" y="1207194"/>
            <a:ext cx="2334725" cy="299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3590850" y="1917175"/>
            <a:ext cx="11325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3345925" y="2278475"/>
            <a:ext cx="1550700" cy="10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>
                <a:solidFill>
                  <a:schemeClr val="dk2"/>
                </a:solidFill>
              </a:rPr>
              <a:t>設置難度</a:t>
            </a:r>
            <a:endParaRPr/>
          </a:p>
        </p:txBody>
      </p:sp>
      <p:cxnSp>
        <p:nvCxnSpPr>
          <p:cNvPr id="116" name="Google Shape;116;p20"/>
          <p:cNvCxnSpPr/>
          <p:nvPr/>
        </p:nvCxnSpPr>
        <p:spPr>
          <a:xfrm>
            <a:off x="5053975" y="3069475"/>
            <a:ext cx="3738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執行結果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8075" y="1277600"/>
            <a:ext cx="2414042" cy="309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700" y="1528294"/>
            <a:ext cx="2334725" cy="299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/>
          <p:nvPr/>
        </p:nvSpPr>
        <p:spPr>
          <a:xfrm>
            <a:off x="3214575" y="2571750"/>
            <a:ext cx="2007000" cy="10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>
                <a:solidFill>
                  <a:schemeClr val="dk2"/>
                </a:solidFill>
              </a:rPr>
              <a:t>錯誤執行工具</a:t>
            </a:r>
            <a:endParaRPr/>
          </a:p>
        </p:txBody>
      </p:sp>
      <p:cxnSp>
        <p:nvCxnSpPr>
          <p:cNvPr id="126" name="Google Shape;126;p21"/>
          <p:cNvCxnSpPr/>
          <p:nvPr/>
        </p:nvCxnSpPr>
        <p:spPr>
          <a:xfrm>
            <a:off x="5112050" y="3449775"/>
            <a:ext cx="3738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執行結果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588850" y="1152488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850" y="1432300"/>
            <a:ext cx="2414042" cy="309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5828" y="1215800"/>
            <a:ext cx="2562675" cy="328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/>
        </p:nvSpPr>
        <p:spPr>
          <a:xfrm>
            <a:off x="3597275" y="2370775"/>
            <a:ext cx="1340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3833350" y="2571750"/>
            <a:ext cx="1149600" cy="10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>
                <a:solidFill>
                  <a:schemeClr val="dk2"/>
                </a:solidFill>
              </a:rPr>
              <a:t>悔棋</a:t>
            </a:r>
            <a:endParaRPr/>
          </a:p>
        </p:txBody>
      </p:sp>
      <p:cxnSp>
        <p:nvCxnSpPr>
          <p:cNvPr id="137" name="Google Shape;137;p22"/>
          <p:cNvCxnSpPr/>
          <p:nvPr/>
        </p:nvCxnSpPr>
        <p:spPr>
          <a:xfrm>
            <a:off x="5131300" y="3668900"/>
            <a:ext cx="3738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執行結果</a:t>
            </a:r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128" y="1215787"/>
            <a:ext cx="2562675" cy="32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2853" y="1215775"/>
            <a:ext cx="2513425" cy="322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/>
          <p:nvPr/>
        </p:nvSpPr>
        <p:spPr>
          <a:xfrm>
            <a:off x="3298375" y="2513725"/>
            <a:ext cx="2007000" cy="121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>
                <a:solidFill>
                  <a:schemeClr val="dk2"/>
                </a:solidFill>
              </a:rPr>
              <a:t>詢問最優棋</a:t>
            </a:r>
            <a:endParaRPr/>
          </a:p>
        </p:txBody>
      </p:sp>
      <p:cxnSp>
        <p:nvCxnSpPr>
          <p:cNvPr id="146" name="Google Shape;146;p23"/>
          <p:cNvCxnSpPr/>
          <p:nvPr/>
        </p:nvCxnSpPr>
        <p:spPr>
          <a:xfrm>
            <a:off x="5111950" y="3578675"/>
            <a:ext cx="3738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執行結果</a:t>
            </a:r>
            <a:endParaRPr/>
          </a:p>
        </p:txBody>
      </p:sp>
      <p:sp>
        <p:nvSpPr>
          <p:cNvPr id="152" name="Google Shape;152;p24"/>
          <p:cNvSpPr txBox="1"/>
          <p:nvPr/>
        </p:nvSpPr>
        <p:spPr>
          <a:xfrm>
            <a:off x="3661775" y="2972825"/>
            <a:ext cx="1576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3604788" y="2481500"/>
            <a:ext cx="2007000" cy="86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移動棋子</a:t>
            </a:r>
            <a:endParaRPr/>
          </a:p>
        </p:txBody>
      </p:sp>
      <p:cxnSp>
        <p:nvCxnSpPr>
          <p:cNvPr id="154" name="Google Shape;154;p24"/>
          <p:cNvCxnSpPr/>
          <p:nvPr/>
        </p:nvCxnSpPr>
        <p:spPr>
          <a:xfrm>
            <a:off x="5569600" y="3585100"/>
            <a:ext cx="3738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5" name="Google Shape;1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653" y="1333050"/>
            <a:ext cx="2513425" cy="32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0498" y="1170125"/>
            <a:ext cx="2574125" cy="330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結果比較(建議)</a:t>
            </a:r>
            <a:endParaRPr/>
          </a:p>
        </p:txBody>
      </p:sp>
      <p:pic>
        <p:nvPicPr>
          <p:cNvPr id="162" name="Google Shape;16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1350" y="1005112"/>
            <a:ext cx="2413189" cy="309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8250" y="1040513"/>
            <a:ext cx="2313100" cy="306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213" y="1004563"/>
            <a:ext cx="2414042" cy="309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/>
          <p:cNvSpPr txBox="1"/>
          <p:nvPr/>
        </p:nvSpPr>
        <p:spPr>
          <a:xfrm>
            <a:off x="1345050" y="4195775"/>
            <a:ext cx="62292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圖一:他搞錯指令了，原因可能是他翻譯成棋子在哪裡"Where is the piece?"，所以Output: {"action":"engine_bestmove","player_move":"e2e4"}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結果比較(移動棋子)</a:t>
            </a:r>
            <a:endParaRPr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311700" y="1152475"/>
            <a:ext cx="8520600" cy="3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5503" y="1495100"/>
            <a:ext cx="2349976" cy="301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1375" y="1495100"/>
            <a:ext cx="2574125" cy="301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25475" y="1495100"/>
            <a:ext cx="2272625" cy="301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6"/>
          <p:cNvSpPr txBox="1"/>
          <p:nvPr/>
        </p:nvSpPr>
        <p:spPr>
          <a:xfrm>
            <a:off x="767250" y="4569575"/>
            <a:ext cx="95721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圖</a:t>
            </a:r>
            <a:r>
              <a:rPr lang="zh-TW" sz="1200">
                <a:solidFill>
                  <a:schemeClr val="dk2"/>
                </a:solidFill>
              </a:rPr>
              <a:t>三</a:t>
            </a:r>
            <a:r>
              <a:rPr lang="zh-TW" sz="1200">
                <a:solidFill>
                  <a:schemeClr val="dk2"/>
                </a:solidFill>
              </a:rPr>
              <a:t>:他搞錯指令了，</a:t>
            </a:r>
            <a:r>
              <a:rPr lang="zh-TW" sz="1200">
                <a:solidFill>
                  <a:schemeClr val="dk2"/>
                </a:solidFill>
              </a:rPr>
              <a:t>可能對於抽象符號不太解IndexContext:{"action":"engine_bestmove","player_move":"g1-&gt;f3"}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其他結果</a:t>
            </a:r>
            <a:endParaRPr/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3825" y="1229925"/>
            <a:ext cx="2287774" cy="293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1600" y="1347525"/>
            <a:ext cx="2196175" cy="2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1650" y="1287725"/>
            <a:ext cx="2242750" cy="287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結論</a:t>
            </a:r>
            <a:endParaRPr/>
          </a:p>
        </p:txBody>
      </p:sp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389050" y="1146025"/>
            <a:ext cx="514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</a:t>
            </a:r>
            <a:r>
              <a:rPr lang="zh-TW"/>
              <a:t>基本上用中文描述都可以成功，但是可能翻譯細節會有些差錯，可能模型的中文並沒有學習的太好。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2.模型對於一些抽象符號不太了解，可能沒有把命令連結在一起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3.用其他大模型可能會更好</a:t>
            </a:r>
            <a:endParaRPr/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3625" y="557650"/>
            <a:ext cx="2436449" cy="440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